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280160" cy="38100"/>
          </a:xfrm>
          <a:prstGeom prst="rect">
            <a:avLst/>
          </a:prstGeom>
          <a:solidFill>
            <a:srgbClr val="9D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 i="0">
                <a:solidFill>
                  <a:srgbClr val="E7E2D9"/>
                </a:solidFill>
                <a:latin typeface="Georgia"/>
              </a:rPr>
              <a:t>Going Native — Plan C</a:t>
            </a:r>
          </a:p>
          <a:p>
            <a:pPr>
              <a:lnSpc>
                <a:spcPct val="115000"/>
              </a:lnSpc>
              <a:spcBef>
                <a:spcPts val="1400"/>
              </a:spcBef>
              <a:spcAft>
                <a:spcPts val="600"/>
              </a:spcAft>
            </a:pPr>
            <a:r>
              <a:rPr sz="2200" b="0" i="1">
                <a:solidFill>
                  <a:srgbClr val="E7E2D9"/>
                </a:solidFill>
                <a:latin typeface="Georgia"/>
              </a:rPr>
              <a:t>A ground-up native iOS + Android rebuild of Sleep,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E7E2D9"/>
                </a:solidFill>
                <a:latin typeface="Georgia"/>
              </a:rPr>
              <a:t>driven by a long-running, self-checking multi-agent AI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DB8A6"/>
                </a:solidFill>
                <a:latin typeface="Calibri"/>
              </a:rPr>
              <a:t>Feasibility  ·  pros &amp; cons  ·  costs  ·  licensing (the big one)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200" b="0" i="0">
                <a:solidFill>
                  <a:srgbClr val="9A978E"/>
                </a:solidFill>
                <a:latin typeface="Calibri"/>
              </a:rPr>
              <a:t>Prepared overnight · 2026-06-15 · while the Howler html5 fix ships to your phone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DB8A6"/>
                </a:solidFill>
                <a:latin typeface="Calibri"/>
              </a:rPr>
              <a:t>BOTTOM LINE UP FRONT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41248"/>
            <a:ext cx="1005840" cy="38100"/>
          </a:xfrm>
          <a:prstGeom prst="rect">
            <a:avLst/>
          </a:prstGeom>
          <a:solidFill>
            <a:srgbClr val="9D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7E2D9"/>
                </a:solidFill>
                <a:latin typeface="Georgia"/>
              </a:rPr>
              <a:t>The code is the easy part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9DB8A6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E7E2D9"/>
                </a:solidFill>
                <a:latin typeface="Calibri"/>
              </a:rPr>
              <a:t>Engineering feasibility: HIGH.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9A978E"/>
                </a:solidFill>
                <a:latin typeface="Calibri"/>
              </a:rPr>
              <a:t>A multi-agent Opus 4.8 / Fable 5 pipeline can realistically produce most of two native codebases — scene engine, UI, integrations, tests, CI.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9DB8A6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E7E2D9"/>
                </a:solidFill>
                <a:latin typeface="Calibri"/>
              </a:rPr>
              <a:t>The hard parts are NOT the code: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9A978E"/>
                </a:solidFill>
                <a:latin typeface="Calibri"/>
              </a:rPr>
              <a:t>1)  Real-device overnight-audio QA — the exact thing emulators fake badly.   2)  App Store / Play review.   3)  Asset &amp; dependency licensing — your biggest concern, and correctly so.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9DB8A6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E7E2D9"/>
                </a:solidFill>
                <a:latin typeface="Calibri"/>
              </a:rPr>
              <a:t>A bonus you'd get back: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9A978E"/>
                </a:solidFill>
                <a:latin typeface="Calibri"/>
              </a:rPr>
              <a:t>Native sample-accurate looping RESTORES the Eno prime-offset engine and the synth-bed glue we just gave up in the web pivot.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9DB8A6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9DB8A6"/>
                </a:solidFill>
                <a:latin typeface="Calibri"/>
              </a:rPr>
              <a:t>My recommendation, up front: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7E2D9"/>
                </a:solidFill>
                <a:latin typeface="Calibri"/>
              </a:rPr>
              <a:t>Test tonight's web fix first. If you still want native, pilot the cheap middle rung (native-audio shell) before committing to the full ground-up rewrite. Details on the last slide.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Executive summary</a:t>
            </a:r>
            <a:r>
              <a:rPr sz="900" b="0" i="0">
                <a:solidFill>
                  <a:srgbClr val="5E7266"/>
                </a:solidFill>
                <a:latin typeface="Calibri"/>
              </a:rPr>
              <a:t>     ·     Sleep — Plan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DB8A6"/>
                </a:solidFill>
                <a:latin typeface="Calibri"/>
              </a:rPr>
              <a:t>THE CASE FOR LEAVING THE BROWSER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41248"/>
            <a:ext cx="1005840" cy="38100"/>
          </a:xfrm>
          <a:prstGeom prst="rect">
            <a:avLst/>
          </a:prstGeom>
          <a:solidFill>
            <a:srgbClr val="9D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7E2D9"/>
                </a:solidFill>
                <a:latin typeface="Georgia"/>
              </a:rPr>
              <a:t>Why even consider native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9DB8A6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E7E2D9"/>
                </a:solidFill>
                <a:latin typeface="Calibri"/>
              </a:rPr>
              <a:t>Tonight's Howler html5 fix is the best the browser allows — but the browser is always a guest in the OS's audio house.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9DB8A6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E7E2D9"/>
                </a:solidFill>
                <a:latin typeface="Calibri"/>
              </a:rPr>
              <a:t>Native hands you the actual primitive the browser only imitates: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978E"/>
                </a:solidFill>
                <a:latin typeface="Calibri"/>
              </a:rPr>
              <a:t>iOS:  AVAudioEngine / AVAudioSession (.playback) + the audio background mode — the OS owns the loop.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9A978E"/>
                </a:solidFill>
                <a:latin typeface="Calibri"/>
              </a:rPr>
              <a:t>Android:  Media3 / ExoPlayer + a foreground media service — playback survives doze, screen-off, low memory.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9DB8A6"/>
                </a:solidFill>
                <a:latin typeface="Calibri"/>
              </a:rPr>
              <a:t>—  </a:t>
            </a:r>
            <a:r>
              <a:rPr sz="1500" b="0" i="1">
                <a:solidFill>
                  <a:srgbClr val="9DB8A6"/>
                </a:solidFill>
                <a:latin typeface="Calibri"/>
              </a:rPr>
              <a:t>This is precisely what Spotify, Calm, and YouTube ship. “Stay asleep all night” stops being a fight and becomes a guarantee.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Rationale</a:t>
            </a:r>
            <a:r>
              <a:rPr sz="900" b="0" i="0">
                <a:solidFill>
                  <a:srgbClr val="5E7266"/>
                </a:solidFill>
                <a:latin typeface="Calibri"/>
              </a:rPr>
              <a:t>     ·     Sleep — Plan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DB8A6"/>
                </a:solidFill>
                <a:latin typeface="Calibri"/>
              </a:rPr>
              <a:t>DON'T SKIP THE MIDDLE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41248"/>
            <a:ext cx="1005840" cy="38100"/>
          </a:xfrm>
          <a:prstGeom prst="rect">
            <a:avLst/>
          </a:prstGeom>
          <a:solidFill>
            <a:srgbClr val="9D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7E2D9"/>
                </a:solidFill>
                <a:latin typeface="Georgia"/>
              </a:rPr>
              <a:t>Three ways to “go native”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3529584" cy="3749039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0280"/>
            <a:ext cx="3127248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DB8A6"/>
                </a:solidFill>
                <a:latin typeface="Calibri"/>
              </a:rPr>
              <a:t>RUNG 1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E7E2D9"/>
                </a:solidFill>
                <a:latin typeface="Georgia"/>
              </a:rPr>
              <a:t>Native-audio shell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9A978E"/>
                </a:solidFill>
                <a:latin typeface="Calibri"/>
              </a:rPr>
              <a:t>Capacitor / TWA wrapper around today's web UI + a native background-audio plugin.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7E2D9"/>
                </a:solidFill>
                <a:latin typeface="Calibri"/>
              </a:rPr>
              <a:t>Effort: LOW  ·  reuse ~95%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E7E2D9"/>
                </a:solidFill>
                <a:latin typeface="Calibri"/>
              </a:rPr>
              <a:t>Robustness: HIGH (native audio)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9DB8A6"/>
                </a:solidFill>
                <a:latin typeface="Calibri"/>
              </a:rPr>
              <a:t>The 80/20. Pilot this first.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4256" y="2057400"/>
            <a:ext cx="3529584" cy="3749039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2240280"/>
            <a:ext cx="3127248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7E2D9"/>
                </a:solidFill>
                <a:latin typeface="Calibri"/>
              </a:rPr>
              <a:t>RUNG 2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E7E2D9"/>
                </a:solidFill>
                <a:latin typeface="Georgia"/>
              </a:rPr>
              <a:t>Cross-platform rewrite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9A978E"/>
                </a:solidFill>
                <a:latin typeface="Calibri"/>
              </a:rPr>
              <a:t>One codebase in React Native / Flutter / Kotlin Multiplatform, with native audio modules.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7E2D9"/>
                </a:solidFill>
                <a:latin typeface="Calibri"/>
              </a:rPr>
              <a:t>Effort: MEDIUM–HIGH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E7E2D9"/>
                </a:solidFill>
                <a:latin typeface="Calibri"/>
              </a:rPr>
              <a:t>Robustness: HIGH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E7E2D9"/>
                </a:solidFill>
                <a:latin typeface="Calibri"/>
              </a:rPr>
              <a:t>One team, two stores.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28432" y="2057400"/>
            <a:ext cx="3529584" cy="3749039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240280"/>
            <a:ext cx="3127248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B865E"/>
                </a:solidFill>
                <a:latin typeface="Calibri"/>
              </a:rPr>
              <a:t>RUNG 3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E7E2D9"/>
                </a:solidFill>
                <a:latin typeface="Georgia"/>
              </a:rPr>
              <a:t>Ground-up native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9A978E"/>
                </a:solidFill>
                <a:latin typeface="Calibri"/>
              </a:rPr>
              <a:t>Separate Swift (iOS) + Kotlin (Android), hand-built per platform. WHAT YOU ASKED ABOUT.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7E2D9"/>
                </a:solidFill>
                <a:latin typeface="Calibri"/>
              </a:rPr>
              <a:t>Effort: HIGHEST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E7E2D9"/>
                </a:solidFill>
                <a:latin typeface="Calibri"/>
              </a:rPr>
              <a:t>Robustness: HIGHEST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CB865E"/>
                </a:solidFill>
                <a:latin typeface="Calibri"/>
              </a:rPr>
              <a:t>Best fidelity &amp; longevity.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9DB8A6"/>
                </a:solidFill>
                <a:latin typeface="Calibri"/>
              </a:rPr>
              <a:t>You asked specifically about Rung 3 — the rest of the deck focuses there. But I'd pilot Rung 1 first: it validates OS background audio for days of effort, not months.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Option spectrum</a:t>
            </a:r>
            <a:r>
              <a:rPr sz="900" b="0" i="0">
                <a:solidFill>
                  <a:srgbClr val="5E7266"/>
                </a:solidFill>
                <a:latin typeface="Calibri"/>
              </a:rPr>
              <a:t>     ·     Sleep — Plan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3737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DB8A6"/>
                </a:solidFill>
                <a:latin typeface="Calibri"/>
              </a:rPr>
              <a:t>PLAN C, CONCRETELY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41248"/>
            <a:ext cx="1005840" cy="38100"/>
          </a:xfrm>
          <a:prstGeom prst="rect">
            <a:avLst/>
          </a:prstGeom>
          <a:solidFill>
            <a:srgbClr val="9D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7E2D9"/>
                </a:solidFill>
                <a:latin typeface="Georgia"/>
              </a:rPr>
              <a:t>The ground-up native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5349240" cy="3200400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9DB8A6"/>
                </a:solidFill>
                <a:latin typeface="Georgia"/>
              </a:rPr>
              <a:t>iOS — Swift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9DB8A6"/>
                </a:solidFill>
                <a:latin typeface="Calibri"/>
              </a:rPr>
              <a:t>·  </a:t>
            </a:r>
            <a:r>
              <a:rPr sz="1300" b="0" i="0">
                <a:solidFill>
                  <a:srgbClr val="E7E2D9"/>
                </a:solidFill>
                <a:latin typeface="Calibri"/>
              </a:rPr>
              <a:t>AVAudioEngine graph; one AVAudioPlayerNode per layer scheduling looping buffers at sample-accurate prime offsets.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9DB8A6"/>
                </a:solidFill>
                <a:latin typeface="Calibri"/>
              </a:rPr>
              <a:t>·  </a:t>
            </a:r>
            <a:r>
              <a:rPr sz="1300" b="0" i="0">
                <a:solidFill>
                  <a:srgbClr val="E7E2D9"/>
                </a:solidFill>
                <a:latin typeface="Calibri"/>
              </a:rPr>
              <a:t>AVAudioSession .playback + UIBackgroundModes audio.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9DB8A6"/>
                </a:solidFill>
                <a:latin typeface="Calibri"/>
              </a:rPr>
              <a:t>·  </a:t>
            </a:r>
            <a:r>
              <a:rPr sz="1300" b="0" i="0">
                <a:solidFill>
                  <a:srgbClr val="E7E2D9"/>
                </a:solidFill>
                <a:latin typeface="Calibri"/>
              </a:rPr>
              <a:t>MPNowPlayingInfoCenter + remote command center for lock-screen transport.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DB8A6"/>
                </a:solidFill>
                <a:latin typeface="Calibri"/>
              </a:rPr>
              <a:t>·  </a:t>
            </a:r>
            <a:r>
              <a:rPr sz="1300" b="0" i="0">
                <a:solidFill>
                  <a:srgbClr val="E7E2D9"/>
                </a:solidFill>
                <a:latin typeface="Calibri"/>
              </a:rPr>
              <a:t>MPVolumeView / fade ramps for the sleep timer.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965960"/>
            <a:ext cx="5349240" cy="3200400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9DB8A6"/>
                </a:solidFill>
                <a:latin typeface="Georgia"/>
              </a:rPr>
              <a:t>Android — Kotlin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9DB8A6"/>
                </a:solidFill>
                <a:latin typeface="Calibri"/>
              </a:rPr>
              <a:t>·  </a:t>
            </a:r>
            <a:r>
              <a:rPr sz="1300" b="0" i="0">
                <a:solidFill>
                  <a:srgbClr val="E7E2D9"/>
                </a:solidFill>
                <a:latin typeface="Calibri"/>
              </a:rPr>
              <a:t>Media3 / ExoPlayer looping sources per layer (or AudioTrack for full control).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9DB8A6"/>
                </a:solidFill>
                <a:latin typeface="Calibri"/>
              </a:rPr>
              <a:t>·  </a:t>
            </a:r>
            <a:r>
              <a:rPr sz="1300" b="0" i="0">
                <a:solidFill>
                  <a:srgbClr val="E7E2D9"/>
                </a:solidFill>
                <a:latin typeface="Calibri"/>
              </a:rPr>
              <a:t>MediaSessionService + foreground service, type = mediaPlayback.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9DB8A6"/>
                </a:solidFill>
                <a:latin typeface="Calibri"/>
              </a:rPr>
              <a:t>·  </a:t>
            </a:r>
            <a:r>
              <a:rPr sz="1300" b="0" i="0">
                <a:solidFill>
                  <a:srgbClr val="E7E2D9"/>
                </a:solidFill>
                <a:latin typeface="Calibri"/>
              </a:rPr>
              <a:t>Survives Doze, screen-off, low-memory reclaim.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DB8A6"/>
                </a:solidFill>
                <a:latin typeface="Calibri"/>
              </a:rPr>
              <a:t>·  </a:t>
            </a:r>
            <a:r>
              <a:rPr sz="1300" b="0" i="0">
                <a:solidFill>
                  <a:srgbClr val="E7E2D9"/>
                </a:solidFill>
                <a:latin typeface="Calibri"/>
              </a:rPr>
              <a:t>AudioFocus handling for headset / call interruptions.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49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9DB8A6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E7E2D9"/>
                </a:solidFill>
                <a:latin typeface="Calibri"/>
              </a:rPr>
              <a:t>Shared &amp; carried over unchanged:  the scene JSON format, the design system, story text (Claude) + narration (ElevenLabs).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9DB8A6"/>
                </a:solidFill>
                <a:latin typeface="Calibri"/>
              </a:rPr>
              <a:t>▸  </a:t>
            </a:r>
            <a:r>
              <a:rPr sz="1350" b="0" i="1">
                <a:solidFill>
                  <a:srgbClr val="9DB8A6"/>
                </a:solidFill>
                <a:latin typeface="Calibri"/>
              </a:rPr>
              <a:t>The headline win: native sample-accurate looping brings the prime-offset Eno engine AND the synth bed back — the two things the web pivot had to sacrifice.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Architecture</a:t>
            </a:r>
            <a:r>
              <a:rPr sz="900" b="0" i="0">
                <a:solidFill>
                  <a:srgbClr val="5E7266"/>
                </a:solidFill>
                <a:latin typeface="Calibri"/>
              </a:rPr>
              <a:t>     ·     Sleep — Plan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3737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DB8A6"/>
                </a:solidFill>
                <a:latin typeface="Calibri"/>
              </a:rPr>
              <a:t>HOW THE BUILD ACTUALLY 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41248"/>
            <a:ext cx="1005840" cy="38100"/>
          </a:xfrm>
          <a:prstGeom prst="rect">
            <a:avLst/>
          </a:prstGeom>
          <a:solidFill>
            <a:srgbClr val="9D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7E2D9"/>
                </a:solidFill>
                <a:latin typeface="Georgia"/>
              </a:rPr>
              <a:t>The long-running multi-agent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9DB8A6"/>
                </a:solidFill>
                <a:latin typeface="Calibri"/>
              </a:rPr>
              <a:t>◆  </a:t>
            </a:r>
            <a:r>
              <a:rPr sz="1600" b="1" i="0">
                <a:solidFill>
                  <a:srgbClr val="9DB8A6"/>
                </a:solidFill>
                <a:latin typeface="Calibri"/>
              </a:rPr>
              <a:t>Orchestrator agent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9A978E"/>
                </a:solidFill>
                <a:latin typeface="Calibri"/>
              </a:rPr>
              <a:t>owns the plan + backlog, checkpoints to git, opens PRs at milestones, and spawns specialists: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9DB8A6"/>
                </a:solidFill>
                <a:latin typeface="Calibri"/>
              </a:rPr>
              <a:t>·  </a:t>
            </a:r>
            <a:r>
              <a:rPr sz="1300" b="1" i="0">
                <a:solidFill>
                  <a:srgbClr val="E7E2D9"/>
                </a:solidFill>
                <a:latin typeface="Calibri"/>
              </a:rPr>
              <a:t>Architect — </a:t>
            </a:r>
            <a:r>
              <a:rPr sz="1300" b="0" i="0">
                <a:solidFill>
                  <a:srgbClr val="9A978E"/>
                </a:solidFill>
                <a:latin typeface="Calibri"/>
              </a:rPr>
              <a:t>system design, scene-engine port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9DB8A6"/>
                </a:solidFill>
                <a:latin typeface="Calibri"/>
              </a:rPr>
              <a:t>·  </a:t>
            </a:r>
            <a:r>
              <a:rPr sz="1300" b="1" i="0">
                <a:solidFill>
                  <a:srgbClr val="E7E2D9"/>
                </a:solidFill>
                <a:latin typeface="Calibri"/>
              </a:rPr>
              <a:t>iOS-audio / Android-audio — </a:t>
            </a:r>
            <a:r>
              <a:rPr sz="1300" b="0" i="0">
                <a:solidFill>
                  <a:srgbClr val="9A978E"/>
                </a:solidFill>
                <a:latin typeface="Calibri"/>
              </a:rPr>
              <a:t>the overnight-survival core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9DB8A6"/>
                </a:solidFill>
                <a:latin typeface="Calibri"/>
              </a:rPr>
              <a:t>·  </a:t>
            </a:r>
            <a:r>
              <a:rPr sz="1300" b="1" i="0">
                <a:solidFill>
                  <a:srgbClr val="E7E2D9"/>
                </a:solidFill>
                <a:latin typeface="Calibri"/>
              </a:rPr>
              <a:t>UI / design-system — </a:t>
            </a:r>
            <a:r>
              <a:rPr sz="1300" b="0" i="0">
                <a:solidFill>
                  <a:srgbClr val="9A978E"/>
                </a:solidFill>
                <a:latin typeface="Calibri"/>
              </a:rPr>
              <a:t>screens from the brand spec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9DB8A6"/>
                </a:solidFill>
                <a:latin typeface="Calibri"/>
              </a:rPr>
              <a:t>·  </a:t>
            </a:r>
            <a:r>
              <a:rPr sz="1300" b="1" i="0">
                <a:solidFill>
                  <a:srgbClr val="E7E2D9"/>
                </a:solidFill>
                <a:latin typeface="Calibri"/>
              </a:rPr>
              <a:t>Integrations — </a:t>
            </a:r>
            <a:r>
              <a:rPr sz="1300" b="0" i="0">
                <a:solidFill>
                  <a:srgbClr val="9A978E"/>
                </a:solidFill>
                <a:latin typeface="Calibri"/>
              </a:rPr>
              <a:t>Claude text + ElevenLabs TTS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9DB8A6"/>
                </a:solidFill>
                <a:latin typeface="Calibri"/>
              </a:rPr>
              <a:t>·  </a:t>
            </a:r>
            <a:r>
              <a:rPr sz="1300" b="1" i="0">
                <a:solidFill>
                  <a:srgbClr val="E7E2D9"/>
                </a:solidFill>
                <a:latin typeface="Calibri"/>
              </a:rPr>
              <a:t>Test / QA — </a:t>
            </a:r>
            <a:r>
              <a:rPr sz="1300" b="0" i="0">
                <a:solidFill>
                  <a:srgbClr val="9A978E"/>
                </a:solidFill>
                <a:latin typeface="Calibri"/>
              </a:rPr>
              <a:t>unit, snapshot, integration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9DB8A6"/>
                </a:solidFill>
                <a:latin typeface="Calibri"/>
              </a:rPr>
              <a:t>·  </a:t>
            </a:r>
            <a:r>
              <a:rPr sz="1300" b="1" i="0">
                <a:solidFill>
                  <a:srgbClr val="E7E2D9"/>
                </a:solidFill>
                <a:latin typeface="Calibri"/>
              </a:rPr>
              <a:t>Reviewer / critic — </a:t>
            </a:r>
            <a:r>
              <a:rPr sz="1300" b="0" i="0">
                <a:solidFill>
                  <a:srgbClr val="9A978E"/>
                </a:solidFill>
                <a:latin typeface="Calibri"/>
              </a:rPr>
              <a:t>diff critique + license scan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920240"/>
            <a:ext cx="5120640" cy="4160520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10312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9DB8A6"/>
                </a:solidFill>
                <a:latin typeface="Calibri"/>
              </a:rPr>
              <a:t>Self-checking loops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E7E2D9"/>
                </a:solidFill>
                <a:latin typeface="Calibri"/>
              </a:rPr>
              <a:t>Every change gated on: compile → unit tests → UI snapshot → lint. The Reviewer agent critiques each diff; nightly integration runs on CI (macOS runners for iOS, Android emulator).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9DB8A6"/>
                </a:solidFill>
                <a:latin typeface="Calibri"/>
              </a:rPr>
              <a:t>Runs unattended for days/weeks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E7E2D9"/>
                </a:solidFill>
                <a:latin typeface="Calibri"/>
              </a:rPr>
              <a:t>You review at milestone PRs, not line by line.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9DB8A6"/>
                </a:solidFill>
                <a:latin typeface="Calibri"/>
              </a:rPr>
              <a:t>Model split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7E2D9"/>
                </a:solidFill>
                <a:latin typeface="Calibri"/>
              </a:rPr>
              <a:t>Opus 4.8 plans, owns the audio core, and gates merges. Fable 5 does the high-throughput implementation passes. (Appendix.)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Workflow</a:t>
            </a:r>
            <a:r>
              <a:rPr sz="900" b="0" i="0">
                <a:solidFill>
                  <a:srgbClr val="5E7266"/>
                </a:solidFill>
                <a:latin typeface="Calibri"/>
              </a:rPr>
              <a:t>     ·     Sleep — Plan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3737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DB8A6"/>
                </a:solidFill>
                <a:latin typeface="Calibri"/>
              </a:rPr>
              <a:t>AN HONEST DIVISION OF LABOUR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41248"/>
            <a:ext cx="1005840" cy="38100"/>
          </a:xfrm>
          <a:prstGeom prst="rect">
            <a:avLst/>
          </a:prstGeom>
          <a:solidFill>
            <a:srgbClr val="9D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7E2D9"/>
                </a:solidFill>
                <a:latin typeface="Georgia"/>
              </a:rPr>
              <a:t>What the agents do vs. what still needs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5349240" cy="4023360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86B08E"/>
                </a:solidFill>
                <a:latin typeface="Georgia"/>
              </a:rPr>
              <a:t>Agents do this well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9DB8A6"/>
                </a:solidFill>
                <a:latin typeface="Calibri"/>
              </a:rPr>
              <a:t>✓  </a:t>
            </a:r>
            <a:r>
              <a:rPr sz="1350" b="0" i="0">
                <a:solidFill>
                  <a:srgbClr val="E7E2D9"/>
                </a:solidFill>
                <a:latin typeface="Calibri"/>
              </a:rPr>
              <a:t>Two native codebases — engine, UI, glue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9DB8A6"/>
                </a:solidFill>
                <a:latin typeface="Calibri"/>
              </a:rPr>
              <a:t>✓  </a:t>
            </a:r>
            <a:r>
              <a:rPr sz="1350" b="0" i="0">
                <a:solidFill>
                  <a:srgbClr val="E7E2D9"/>
                </a:solidFill>
                <a:latin typeface="Calibri"/>
              </a:rPr>
              <a:t>Porting the scene JSON format verbatim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9DB8A6"/>
                </a:solidFill>
                <a:latin typeface="Calibri"/>
              </a:rPr>
              <a:t>✓  </a:t>
            </a:r>
            <a:r>
              <a:rPr sz="1350" b="0" i="0">
                <a:solidFill>
                  <a:srgbClr val="E7E2D9"/>
                </a:solidFill>
                <a:latin typeface="Calibri"/>
              </a:rPr>
              <a:t>Test suites + CI pipelines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9DB8A6"/>
                </a:solidFill>
                <a:latin typeface="Calibri"/>
              </a:rPr>
              <a:t>✓  </a:t>
            </a:r>
            <a:r>
              <a:rPr sz="1350" b="0" i="0">
                <a:solidFill>
                  <a:srgbClr val="E7E2D9"/>
                </a:solidFill>
                <a:latin typeface="Calibri"/>
              </a:rPr>
              <a:t>UI built from the design system spec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9DB8A6"/>
                </a:solidFill>
                <a:latin typeface="Calibri"/>
              </a:rPr>
              <a:t>✓  </a:t>
            </a:r>
            <a:r>
              <a:rPr sz="1350" b="0" i="0">
                <a:solidFill>
                  <a:srgbClr val="E7E2D9"/>
                </a:solidFill>
                <a:latin typeface="Calibri"/>
              </a:rPr>
              <a:t>Refactors, docs, dependency wiring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9DB8A6"/>
                </a:solidFill>
                <a:latin typeface="Calibri"/>
              </a:rPr>
              <a:t>✓  </a:t>
            </a:r>
            <a:r>
              <a:rPr sz="1350" b="0" i="0">
                <a:solidFill>
                  <a:srgbClr val="E7E2D9"/>
                </a:solidFill>
                <a:latin typeface="Calibri"/>
              </a:rPr>
              <a:t>License-scanning dependencies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965960"/>
            <a:ext cx="5349240" cy="4023360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CB865E"/>
                </a:solidFill>
                <a:latin typeface="Georgia"/>
              </a:rPr>
              <a:t>Still needs a human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9DB8A6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E7E2D9"/>
                </a:solidFill>
                <a:latin typeface="Calibri"/>
              </a:rPr>
              <a:t>Real-device overnight audio QA — emulators don't reproduce OS throttling faithfully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9DB8A6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E7E2D9"/>
                </a:solidFill>
                <a:latin typeface="Calibri"/>
              </a:rPr>
              <a:t>App Store / Play submission, signing, certs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9DB8A6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E7E2D9"/>
                </a:solidFill>
                <a:latin typeface="Calibri"/>
              </a:rPr>
              <a:t>Responding to review rejections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9DB8A6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E7E2D9"/>
                </a:solidFill>
                <a:latin typeface="Calibri"/>
              </a:rPr>
              <a:t>Licensing decisions &amp; asset clearance (judgment + contracts)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9DB8A6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E7E2D9"/>
                </a:solidFill>
                <a:latin typeface="Calibri"/>
              </a:rPr>
              <a:t>Developer accounts, banking, tax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Feasibility</a:t>
            </a:r>
            <a:r>
              <a:rPr sz="900" b="0" i="0">
                <a:solidFill>
                  <a:srgbClr val="5E7266"/>
                </a:solidFill>
                <a:latin typeface="Calibri"/>
              </a:rPr>
              <a:t>     ·     Sleep — Plan 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3737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DB8A6"/>
                </a:solidFill>
                <a:latin typeface="Calibri"/>
              </a:rPr>
              <a:t>THE UPSIDE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41248"/>
            <a:ext cx="1005840" cy="38100"/>
          </a:xfrm>
          <a:prstGeom prst="rect">
            <a:avLst/>
          </a:prstGeom>
          <a:solidFill>
            <a:srgbClr val="9D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7E2D9"/>
                </a:solidFill>
                <a:latin typeface="Georgia"/>
              </a:rPr>
              <a:t>Pros of the native rebuild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9DB8A6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9DB8A6"/>
                </a:solidFill>
                <a:latin typeface="Calibri"/>
              </a:rPr>
              <a:t>Bulletproof overnight audio  —  </a:t>
            </a:r>
            <a:r>
              <a:rPr sz="1400" b="0" i="0">
                <a:solidFill>
                  <a:srgbClr val="E7E2D9"/>
                </a:solidFill>
                <a:latin typeface="Calibri"/>
              </a:rPr>
              <a:t>The OS owns the loop. The thing we've fought for a week stops being a risk.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9DB8A6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9DB8A6"/>
                </a:solidFill>
                <a:latin typeface="Calibri"/>
              </a:rPr>
              <a:t>The Eno engine comes back  —  </a:t>
            </a:r>
            <a:r>
              <a:rPr sz="1400" b="0" i="0">
                <a:solidFill>
                  <a:srgbClr val="E7E2D9"/>
                </a:solidFill>
                <a:latin typeface="Calibri"/>
              </a:rPr>
              <a:t>Sample-accurate native looping restores the prime offsets and the synth-bed glue.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9DB8A6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9DB8A6"/>
                </a:solidFill>
                <a:latin typeface="Calibri"/>
              </a:rPr>
              <a:t>App Store / Play presence  —  </a:t>
            </a:r>
            <a:r>
              <a:rPr sz="1400" b="0" i="0">
                <a:solidFill>
                  <a:srgbClr val="E7E2D9"/>
                </a:solidFill>
                <a:latin typeface="Calibri"/>
              </a:rPr>
              <a:t>Discoverability, credibility, real install funnel, optional paid/IAP later.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9DB8A6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9DB8A6"/>
                </a:solidFill>
                <a:latin typeface="Calibri"/>
              </a:rPr>
              <a:t>Better performance &amp; offline  —  </a:t>
            </a:r>
            <a:r>
              <a:rPr sz="1400" b="0" i="0">
                <a:solidFill>
                  <a:srgbClr val="E7E2D9"/>
                </a:solidFill>
                <a:latin typeface="Calibri"/>
              </a:rPr>
              <a:t>No browser tax; assets bundled; instant cold start; true offline.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9DB8A6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9DB8A6"/>
                </a:solidFill>
                <a:latin typeface="Calibri"/>
              </a:rPr>
              <a:t>Clean privacy story  —  </a:t>
            </a:r>
            <a:r>
              <a:rPr sz="1400" b="0" i="0">
                <a:solidFill>
                  <a:srgbClr val="E7E2D9"/>
                </a:solidFill>
                <a:latin typeface="Calibri"/>
              </a:rPr>
              <a:t>No accounts, no telemetry → trivially clean App Privacy labels (a review advantage).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9DB8A6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9DB8A6"/>
                </a:solidFill>
                <a:latin typeface="Calibri"/>
              </a:rPr>
              <a:t>Platform features  —  </a:t>
            </a:r>
            <a:r>
              <a:rPr sz="1400" b="0" i="0">
                <a:solidFill>
                  <a:srgbClr val="E7E2D9"/>
                </a:solidFill>
                <a:latin typeface="Calibri"/>
              </a:rPr>
              <a:t>Lock-screen art, Siri/Assistant, widgets, Focus/Bedtime integration, CarPlay/AA later.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Pros</a:t>
            </a:r>
            <a:r>
              <a:rPr sz="900" b="0" i="0">
                <a:solidFill>
                  <a:srgbClr val="5E7266"/>
                </a:solidFill>
                <a:latin typeface="Calibri"/>
              </a:rPr>
              <a:t>     ·     Sleep — Plan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DB8A6"/>
                </a:solidFill>
                <a:latin typeface="Calibri"/>
              </a:rPr>
              <a:t>THE DOWNSIDE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41248"/>
            <a:ext cx="1005840" cy="38100"/>
          </a:xfrm>
          <a:prstGeom prst="rect">
            <a:avLst/>
          </a:prstGeom>
          <a:solidFill>
            <a:srgbClr val="9D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7E2D9"/>
                </a:solidFill>
                <a:latin typeface="Georgia"/>
              </a:rPr>
              <a:t>Cons &amp; risks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9DB8A6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CB865E"/>
                </a:solidFill>
                <a:latin typeface="Calibri"/>
              </a:rPr>
              <a:t>You lose instant web deploy  —  </a:t>
            </a:r>
            <a:r>
              <a:rPr sz="1400" b="0" i="0">
                <a:solidFill>
                  <a:srgbClr val="E7E2D9"/>
                </a:solidFill>
                <a:latin typeface="Calibri"/>
              </a:rPr>
              <a:t>No more “merge → live on your phone in 2 minutes.” Builds, signing, store review now gate every release.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9DB8A6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CB865E"/>
                </a:solidFill>
                <a:latin typeface="Calibri"/>
              </a:rPr>
              <a:t>Two platforms to maintain  —  </a:t>
            </a:r>
            <a:r>
              <a:rPr sz="1400" b="0" i="0">
                <a:solidFill>
                  <a:srgbClr val="E7E2D9"/>
                </a:solidFill>
                <a:latin typeface="Calibri"/>
              </a:rPr>
              <a:t>(Rung 3) Swift + Kotlin = double the surface, double the OS-update churn, indefinitely.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9DB8A6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CB865E"/>
                </a:solidFill>
                <a:latin typeface="Calibri"/>
              </a:rPr>
              <a:t>App review latency &amp; rejection  —  </a:t>
            </a:r>
            <a:r>
              <a:rPr sz="1400" b="0" i="0">
                <a:solidFill>
                  <a:srgbClr val="E7E2D9"/>
                </a:solidFill>
                <a:latin typeface="Calibri"/>
              </a:rPr>
              <a:t>Days per cycle; background-audio + any AI content draw scrutiny.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9DB8A6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CB865E"/>
                </a:solidFill>
                <a:latin typeface="Calibri"/>
              </a:rPr>
              <a:t>Device-QA can't be fully automated  —  </a:t>
            </a:r>
            <a:r>
              <a:rPr sz="1400" b="0" i="0">
                <a:solidFill>
                  <a:srgbClr val="E7E2D9"/>
                </a:solidFill>
                <a:latin typeface="Calibri"/>
              </a:rPr>
              <a:t>The one failure mode that matters most still needs real phones in real overnight conditions.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9DB8A6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CB865E"/>
                </a:solidFill>
                <a:latin typeface="Calibri"/>
              </a:rPr>
              <a:t>Multi-agent drift &amp; cost  —  </a:t>
            </a:r>
            <a:r>
              <a:rPr sz="1400" b="0" i="0">
                <a:solidFill>
                  <a:srgbClr val="E7E2D9"/>
                </a:solidFill>
                <a:latin typeface="Calibri"/>
              </a:rPr>
              <a:t>Long autonomous runs can wander; needs the critic loop + your milestone reviews to stay on-brief.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9DB8A6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CB865E"/>
                </a:solidFill>
                <a:latin typeface="Calibri"/>
              </a:rPr>
              <a:t>Up-front cost &amp; time  —  </a:t>
            </a:r>
            <a:r>
              <a:rPr sz="1400" b="0" i="0">
                <a:solidFill>
                  <a:srgbClr val="E7E2D9"/>
                </a:solidFill>
                <a:latin typeface="Calibri"/>
              </a:rPr>
              <a:t>Weeks-to-months and real dollars before the first install — vs. the web app that already works.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Cons</a:t>
            </a:r>
            <a:r>
              <a:rPr sz="900" b="0" i="0">
                <a:solidFill>
                  <a:srgbClr val="5E7266"/>
                </a:solidFill>
                <a:latin typeface="Calibri"/>
              </a:rPr>
              <a:t>     ·     Sleep — Plan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DB8A6"/>
                </a:solidFill>
                <a:latin typeface="Calibri"/>
              </a:rPr>
              <a:t>WHAT IT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41248"/>
            <a:ext cx="1005840" cy="38100"/>
          </a:xfrm>
          <a:prstGeom prst="rect">
            <a:avLst/>
          </a:prstGeom>
          <a:solidFill>
            <a:srgbClr val="9D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7E2D9"/>
                </a:solidFill>
                <a:latin typeface="Georgia"/>
              </a:rPr>
              <a:t>Budget — order-of-magnitude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881360" cy="384048"/>
          </a:xfrm>
          <a:prstGeom prst="rect">
            <a:avLst/>
          </a:prstGeom>
          <a:solidFill>
            <a:srgbClr val="20252E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4825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9DB8A6"/>
                </a:solidFill>
                <a:latin typeface="Calibri"/>
              </a:rPr>
              <a:t>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04825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9DB8A6"/>
                </a:solidFill>
                <a:latin typeface="Calibri"/>
              </a:rPr>
              <a:t>Cadence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4825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9DB8A6"/>
                </a:solidFill>
                <a:latin typeface="Calibri"/>
              </a:rPr>
              <a:t>Estimate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48256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9DB8A6"/>
                </a:solidFill>
                <a:latin typeface="Calibri"/>
              </a:rPr>
              <a:t>Notes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395728"/>
            <a:ext cx="10881360" cy="502920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231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E7E2D9"/>
                </a:solidFill>
                <a:latin typeface="Calibri"/>
              </a:rPr>
              <a:t>AI build (API tokens)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4231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A978E"/>
                </a:solidFill>
                <a:latin typeface="Calibri"/>
              </a:rPr>
              <a:t>One-time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231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DB8A6"/>
                </a:solidFill>
                <a:latin typeface="Calibri"/>
              </a:rPr>
              <a:t>Low hundreds → low thousands of $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A978E"/>
                </a:solidFill>
                <a:latin typeface="Calibri"/>
              </a:rPr>
              <a:t>A 2-platform ground-up app is tens of millions of tokens over weeks. Fable-5-heavy bulk + Opus for core/review keeps it toward the low end; all-Opus pushes it 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9260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E7E2D9"/>
                </a:solidFill>
                <a:latin typeface="Calibri"/>
              </a:rPr>
              <a:t>Your review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9260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A978E"/>
                </a:solidFill>
                <a:latin typeface="Calibri"/>
              </a:rPr>
              <a:t>One-time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9260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DB8A6"/>
                </a:solidFill>
                <a:latin typeface="Calibri"/>
              </a:rPr>
              <a:t>The real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260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A978E"/>
                </a:solidFill>
                <a:latin typeface="Calibri"/>
              </a:rPr>
              <a:t>Milestone reviews, device testing, decisions. Hours, not dollars — but the binding constraint.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401568"/>
            <a:ext cx="10881360" cy="502920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290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E7E2D9"/>
                </a:solidFill>
                <a:latin typeface="Calibri"/>
              </a:rPr>
              <a:t>Apple Developer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4290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A978E"/>
                </a:solidFill>
                <a:latin typeface="Calibri"/>
              </a:rPr>
              <a:t>$99 / year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DB8A6"/>
                </a:solidFill>
                <a:latin typeface="Calibri"/>
              </a:rPr>
              <a:t>Required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429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A978E"/>
                </a:solidFill>
                <a:latin typeface="Calibri"/>
              </a:rPr>
              <a:t>Per Apple account, to ship on the App Store.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319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E7E2D9"/>
                </a:solidFill>
                <a:latin typeface="Calibri"/>
              </a:rPr>
              <a:t>Google Play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9319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A978E"/>
                </a:solidFill>
                <a:latin typeface="Calibri"/>
              </a:rPr>
              <a:t>$25 once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9319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DB8A6"/>
                </a:solidFill>
                <a:latin typeface="Calibri"/>
              </a:rPr>
              <a:t>Required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9319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A978E"/>
                </a:solidFill>
                <a:latin typeface="Calibri"/>
              </a:rPr>
              <a:t>One-time registration.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407408"/>
            <a:ext cx="10881360" cy="502920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4348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E7E2D9"/>
                </a:solidFill>
                <a:latin typeface="Calibri"/>
              </a:rPr>
              <a:t>ElevenLabs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4348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A978E"/>
                </a:solidFill>
                <a:latin typeface="Calibri"/>
              </a:rPr>
              <a:t>Subscription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434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DB8A6"/>
                </a:solidFill>
                <a:latin typeface="Calibri"/>
              </a:rPr>
              <a:t>Paid tier required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4348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A978E"/>
                </a:solidFill>
                <a:latin typeface="Calibri"/>
              </a:rPr>
              <a:t>Commercial ownership of narration needs a paid plan (free tier = no commercial use).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937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E7E2D9"/>
                </a:solidFill>
                <a:latin typeface="Calibri"/>
              </a:rPr>
              <a:t>Anthropic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49377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A978E"/>
                </a:solidFill>
                <a:latin typeface="Calibri"/>
              </a:rPr>
              <a:t>Usage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9377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DB8A6"/>
                </a:solidFill>
                <a:latin typeface="Calibri"/>
              </a:rPr>
              <a:t>Per story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937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A978E"/>
                </a:solidFill>
                <a:latin typeface="Calibri"/>
              </a:rPr>
              <a:t>Story-text generation (already in use).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413248"/>
            <a:ext cx="10881360" cy="502920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4406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E7E2D9"/>
                </a:solidFill>
                <a:latin typeface="Calibri"/>
              </a:rPr>
              <a:t>Server (optional)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54406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A978E"/>
                </a:solidFill>
                <a:latin typeface="Calibri"/>
              </a:rPr>
              <a:t>Monthly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54406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DB8A6"/>
                </a:solidFill>
                <a:latin typeface="Calibri"/>
              </a:rPr>
              <a:t>Only if moved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4406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A978E"/>
                </a:solidFill>
                <a:latin typeface="Calibri"/>
              </a:rPr>
              <a:t>If TTS/LLM move server-side off the client; otherwise $0.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9436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E7E2D9"/>
                </a:solidFill>
                <a:latin typeface="Calibri"/>
              </a:rPr>
              <a:t>Maintenance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59436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A978E"/>
                </a:solidFill>
                <a:latin typeface="Calibri"/>
              </a:rPr>
              <a:t>Ongoing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5943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DB8A6"/>
                </a:solidFill>
                <a:latin typeface="Calibri"/>
              </a:rPr>
              <a:t>Annual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5943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A978E"/>
                </a:solidFill>
                <a:latin typeface="Calibri"/>
              </a:rPr>
              <a:t>OS updates, cert renewals, store-policy changes × two codebases.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437376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Costs</a:t>
            </a:r>
            <a:r>
              <a:rPr sz="900" b="0" i="0">
                <a:solidFill>
                  <a:srgbClr val="5E7266"/>
                </a:solidFill>
                <a:latin typeface="Calibri"/>
              </a:rPr>
              <a:t>     ·     Sleep — Plan 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643737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DB8A6"/>
                </a:solidFill>
                <a:latin typeface="Calibri"/>
              </a:rPr>
              <a:t>HOW LONG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41248"/>
            <a:ext cx="1005840" cy="38100"/>
          </a:xfrm>
          <a:prstGeom prst="rect">
            <a:avLst/>
          </a:prstGeom>
          <a:solidFill>
            <a:srgbClr val="9D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7E2D9"/>
                </a:solidFill>
                <a:latin typeface="Georgia"/>
              </a:rPr>
              <a:t>Period — phased, estimate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0881360" cy="932688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85416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E7E2D9"/>
                </a:solidFill>
                <a:latin typeface="Georgia"/>
              </a:rPr>
              <a:t>Pilot — Rung 1 audio shell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A978E"/>
                </a:solidFill>
                <a:latin typeface="Calibri"/>
              </a:rPr>
              <a:t>Wrap today's UI, drop in a native background-audio plugin. Proves OS overnight audio cheaply, before any rewrite spend.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3134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9DB8A6"/>
                </a:solidFill>
                <a:latin typeface="Georgia"/>
              </a:rPr>
              <a:t>~ 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81528"/>
            <a:ext cx="10881360" cy="932688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09544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E7E2D9"/>
                </a:solidFill>
                <a:latin typeface="Georgia"/>
              </a:rPr>
              <a:t>Plan C MVP — one platform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A978E"/>
                </a:solidFill>
                <a:latin typeface="Calibri"/>
              </a:rPr>
              <a:t>Core scenes + sleep timer + Night Drift on iOS (or Android). Stories deferred. Agent build + your milestone reviews.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37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9DB8A6"/>
                </a:solidFill>
                <a:latin typeface="Georgia"/>
              </a:rPr>
              <a:t>~ 2–4 weeks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105656"/>
            <a:ext cx="10881360" cy="932688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33672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E7E2D9"/>
                </a:solidFill>
                <a:latin typeface="Georgia"/>
              </a:rPr>
              <a:t>Second platform + parity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A978E"/>
                </a:solidFill>
                <a:latin typeface="Calibri"/>
              </a:rPr>
              <a:t>Port to the other OS; shared scene format makes this faster than the first.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3616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9DB8A6"/>
                </a:solidFill>
                <a:latin typeface="Georgia"/>
              </a:rPr>
              <a:t>~ +2–3 weeks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129784"/>
            <a:ext cx="10881360" cy="932688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2578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E7E2D9"/>
                </a:solidFill>
                <a:latin typeface="Georgia"/>
              </a:rPr>
              <a:t>Stories, polish, submission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A978E"/>
                </a:solidFill>
                <a:latin typeface="Calibri"/>
              </a:rPr>
              <a:t>TTS/LLM integration, design polish, store assets, privacy labels, and the review cycles themselves.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538581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9DB8A6"/>
                </a:solidFill>
                <a:latin typeface="Georgia"/>
              </a:rPr>
              <a:t>~ +3–6 weeks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9DB8A6"/>
                </a:solidFill>
                <a:latin typeface="Calibri"/>
              </a:rPr>
              <a:t>Estimates dominated by device-QA and store-review latency — not code-writing speed.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37376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Timeline</a:t>
            </a:r>
            <a:r>
              <a:rPr sz="900" b="0" i="0">
                <a:solidFill>
                  <a:srgbClr val="5E7266"/>
                </a:solidFill>
                <a:latin typeface="Calibri"/>
              </a:rPr>
              <a:t>     ·     Sleep — Plan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3737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DB8A6"/>
                </a:solidFill>
                <a:latin typeface="Calibri"/>
              </a:rPr>
              <a:t>YOUR BIGGEST CONCERN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41248"/>
            <a:ext cx="1005840" cy="38100"/>
          </a:xfrm>
          <a:prstGeom prst="rect">
            <a:avLst/>
          </a:prstGeom>
          <a:solidFill>
            <a:srgbClr val="9D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7E2D9"/>
                </a:solidFill>
                <a:latin typeface="Georgia"/>
              </a:rPr>
              <a:t>Licensing — the seven buckets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881360" cy="493776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109728" cy="493776"/>
          </a:xfrm>
          <a:prstGeom prst="rect">
            <a:avLst/>
          </a:prstGeom>
          <a:solidFill>
            <a:srgbClr val="86B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6654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7E2D9"/>
                </a:solidFill>
                <a:latin typeface="Calibri"/>
              </a:rPr>
              <a:t>Audio — Pixabay scenes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066544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86B08E"/>
                </a:solidFill>
                <a:latin typeface="Calibri"/>
              </a:rPr>
              <a:t>Low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07568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A978E"/>
                </a:solidFill>
                <a:latin typeface="Calibri"/>
              </a:rPr>
              <a:t>Commercial OK, no attribution; bundling in an app is fine.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78608"/>
            <a:ext cx="10881360" cy="493776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578608"/>
            <a:ext cx="109728" cy="493776"/>
          </a:xfrm>
          <a:prstGeom prst="rect">
            <a:avLst/>
          </a:prstGeom>
          <a:solidFill>
            <a:srgbClr val="CB8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6334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7E2D9"/>
                </a:solidFill>
                <a:latin typeface="Calibri"/>
              </a:rPr>
              <a:t>Audio — freetousesounds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63347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B865E"/>
                </a:solidFill>
                <a:latin typeface="Calibri"/>
              </a:rPr>
              <a:t>Action needed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64261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A978E"/>
                </a:solidFill>
                <a:latin typeface="Calibri"/>
              </a:rPr>
              <a:t>Requires attribution + bars redistributing originals. forest-evening uses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45536"/>
            <a:ext cx="10881360" cy="493776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145536"/>
            <a:ext cx="109728" cy="493776"/>
          </a:xfrm>
          <a:prstGeom prst="rect">
            <a:avLst/>
          </a:prstGeom>
          <a:solidFill>
            <a:srgbClr val="86B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200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7E2D9"/>
                </a:solidFill>
                <a:latin typeface="Calibri"/>
              </a:rPr>
              <a:t>AI narration — ElevenLabs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2004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86B08E"/>
                </a:solidFill>
                <a:latin typeface="Calibri"/>
              </a:rPr>
              <a:t>OK if paid 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20954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A978E"/>
                </a:solidFill>
                <a:latin typeface="Calibri"/>
              </a:rPr>
              <a:t>Paid plan = you own output, perpetual commercial rights.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712464"/>
            <a:ext cx="10881360" cy="493776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712464"/>
            <a:ext cx="109728" cy="493776"/>
          </a:xfrm>
          <a:prstGeom prst="rect">
            <a:avLst/>
          </a:prstGeom>
          <a:solidFill>
            <a:srgbClr val="86B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7673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7E2D9"/>
                </a:solidFill>
                <a:latin typeface="Calibri"/>
              </a:rPr>
              <a:t>AI story text — Claude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76732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86B08E"/>
                </a:solidFill>
                <a:latin typeface="Calibri"/>
              </a:rPr>
              <a:t>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7764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A978E"/>
                </a:solidFill>
                <a:latin typeface="Calibri"/>
              </a:rPr>
              <a:t>Outputs assigned to you under commercial terms.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279392"/>
            <a:ext cx="10881360" cy="493776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279392"/>
            <a:ext cx="109728" cy="493776"/>
          </a:xfrm>
          <a:prstGeom prst="rect">
            <a:avLst/>
          </a:prstGeom>
          <a:solidFill>
            <a:srgbClr val="CB8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334256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7E2D9"/>
                </a:solidFill>
                <a:latin typeface="Calibri"/>
              </a:rPr>
              <a:t>Fonts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33425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B865E"/>
                </a:solidFill>
                <a:latin typeface="Calibri"/>
              </a:rPr>
              <a:t>Verify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343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A978E"/>
                </a:solidFill>
                <a:latin typeface="Calibri"/>
              </a:rPr>
              <a:t>Editorial serif needs an APP-EMBEDDING license; default to OFL.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846320"/>
            <a:ext cx="10881360" cy="493776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4846320"/>
            <a:ext cx="109728" cy="493776"/>
          </a:xfrm>
          <a:prstGeom prst="rect">
            <a:avLst/>
          </a:prstGeom>
          <a:solidFill>
            <a:srgbClr val="CB8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90118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7E2D9"/>
                </a:solidFill>
                <a:latin typeface="Calibri"/>
              </a:rPr>
              <a:t>Photography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4901184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B865E"/>
                </a:solidFill>
                <a:latin typeface="Calibri"/>
              </a:rPr>
              <a:t>Open gap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491032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A978E"/>
                </a:solidFill>
                <a:latin typeface="Calibri"/>
              </a:rPr>
              <a:t>Scene photos need commercial, app-distributable image licenses.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413248"/>
            <a:ext cx="10881360" cy="493776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5413248"/>
            <a:ext cx="109728" cy="493776"/>
          </a:xfrm>
          <a:prstGeom prst="rect">
            <a:avLst/>
          </a:prstGeom>
          <a:solidFill>
            <a:srgbClr val="86B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46811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7E2D9"/>
                </a:solidFill>
                <a:latin typeface="Calibri"/>
              </a:rPr>
              <a:t>Code &amp; OSS deps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546811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86B08E"/>
                </a:solidFill>
                <a:latin typeface="Calibri"/>
              </a:rPr>
              <a:t>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547725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A978E"/>
                </a:solidFill>
                <a:latin typeface="Calibri"/>
              </a:rPr>
              <a:t>AI output rights are yours; deps are permissive (MIT/Apache).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37376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Licensing — overview</a:t>
            </a:r>
            <a:r>
              <a:rPr sz="900" b="0" i="0">
                <a:solidFill>
                  <a:srgbClr val="5E7266"/>
                </a:solidFill>
                <a:latin typeface="Calibri"/>
              </a:rPr>
              <a:t>     ·     Sleep — Plan 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3737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DB8A6"/>
                </a:solidFill>
                <a:latin typeface="Calibri"/>
              </a:rPr>
              <a:t>LICENSING IN DETAIL · 1 OF 3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41248"/>
            <a:ext cx="1005840" cy="38100"/>
          </a:xfrm>
          <a:prstGeom prst="rect">
            <a:avLst/>
          </a:prstGeom>
          <a:solidFill>
            <a:srgbClr val="9D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7E2D9"/>
                </a:solidFill>
                <a:latin typeface="Georgia"/>
              </a:rPr>
              <a:t>Audio assets — the live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DB8A6"/>
                </a:solidFill>
                <a:latin typeface="Calibri"/>
              </a:rPr>
              <a:t>✓  </a:t>
            </a:r>
            <a:r>
              <a:rPr sz="1500" b="1" i="0">
                <a:solidFill>
                  <a:srgbClr val="86B08E"/>
                </a:solidFill>
                <a:latin typeface="Calibri"/>
              </a:rPr>
              <a:t>Pixabay (most scenes — rain, monsoon, ocean, etc.)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E7E2D9"/>
                </a:solidFill>
                <a:latin typeface="Calibri"/>
              </a:rPr>
              <a:t>Pixabay Content License: free, commercial use OK, no attribution. Bundling inside the app is fine. You only can't sell the sound files as a standalone pack. Lowest-risk bucket.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DB8A6"/>
                </a:solidFill>
                <a:latin typeface="Calibri"/>
              </a:rPr>
              <a:t>!  </a:t>
            </a:r>
            <a:r>
              <a:rPr sz="1500" b="1" i="0">
                <a:solidFill>
                  <a:srgbClr val="CB865E"/>
                </a:solidFill>
                <a:latin typeface="Calibri"/>
              </a:rPr>
              <a:t>freetousesounds (forest-evening: forest-rain + creek variants)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7E2D9"/>
                </a:solidFill>
                <a:latin typeface="Calibri"/>
              </a:rPr>
              <a:t>Their license requires ATTRIBUTION (a visible credit/link) and prohibits redistributing the original sounds unmodified — and flags that app-developer commercial use may need a separate non-exclusive license. Our files are re-encoded/trimmed, which helps, but “modified” should mean genuinely redesigned.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300" b="0" i="1">
                <a:solidFill>
                  <a:srgbClr val="9DB8A6"/>
                </a:solidFill>
                <a:latin typeface="Calibri"/>
              </a:rPr>
              <a:t>Reconcile with “no chrome”: a tucked-away About/Credits screen is the usual fix — a media-credits list isn't marketing UI. Or replace these specific clips with Pixabay/OFL-clean equivalents.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DB8A6"/>
                </a:solidFill>
                <a:latin typeface="Calibri"/>
              </a:rPr>
              <a:t>!  </a:t>
            </a:r>
            <a:r>
              <a:rPr sz="1500" b="1" i="0">
                <a:solidFill>
                  <a:srgbClr val="CB865E"/>
                </a:solidFill>
                <a:latin typeface="Calibri"/>
              </a:rPr>
              <a:t>“User-provided” &amp; any unknown-source files (e.g. wind-2)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7E2D9"/>
                </a:solidFill>
                <a:latin typeface="Calibri"/>
              </a:rPr>
              <a:t>Provenance must be confirmed before commercial distribution. The Reviewer agent can produce a per-file license manifest from the existing .json sidecars as step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Licensing — audio</a:t>
            </a:r>
            <a:r>
              <a:rPr sz="900" b="0" i="0">
                <a:solidFill>
                  <a:srgbClr val="5E7266"/>
                </a:solidFill>
                <a:latin typeface="Calibri"/>
              </a:rPr>
              <a:t>     ·     Sleep — Plan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DB8A6"/>
                </a:solidFill>
                <a:latin typeface="Calibri"/>
              </a:rPr>
              <a:t>LICENSING IN DETAIL · 2 OF 3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41248"/>
            <a:ext cx="1005840" cy="38100"/>
          </a:xfrm>
          <a:prstGeom prst="rect">
            <a:avLst/>
          </a:prstGeom>
          <a:solidFill>
            <a:srgbClr val="9D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7E2D9"/>
                </a:solidFill>
                <a:latin typeface="Georgia"/>
              </a:rPr>
              <a:t>AI-generated 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DB8A6"/>
                </a:solidFill>
                <a:latin typeface="Calibri"/>
              </a:rPr>
              <a:t>✓  </a:t>
            </a:r>
            <a:r>
              <a:rPr sz="1500" b="1" i="0">
                <a:solidFill>
                  <a:srgbClr val="86B08E"/>
                </a:solidFill>
                <a:latin typeface="Calibri"/>
              </a:rPr>
              <a:t>ElevenLabs — narration (TTS)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E7E2D9"/>
                </a:solidFill>
                <a:latin typeface="Calibri"/>
              </a:rPr>
              <a:t>On a PAID plan you own the generated audio with perpetual commercial rights — even after cancelling. Free tier = no commercial use + forced “elevenlabs.io” attribution. They retain a license to train on your content. Their Sound-FX / Music products have standalone-redistribution limits, but in-app narration is squarely fine.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DB8A6"/>
                </a:solidFill>
                <a:latin typeface="Calibri"/>
              </a:rPr>
              <a:t>✓  </a:t>
            </a:r>
            <a:r>
              <a:rPr sz="1500" b="1" i="0">
                <a:solidFill>
                  <a:srgbClr val="86B08E"/>
                </a:solidFill>
                <a:latin typeface="Calibri"/>
              </a:rPr>
              <a:t>Anthropic / Claude — story text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E7E2D9"/>
                </a:solidFill>
                <a:latin typeface="Calibri"/>
              </a:rPr>
              <a:t>Under the commercial terms, rights to outputs are assigned to you; usable in-app. Keep generation policy-compliant (the Prohibited Use Policy).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DB8A6"/>
                </a:solidFill>
                <a:latin typeface="Calibri"/>
              </a:rPr>
              <a:t>!  </a:t>
            </a:r>
            <a:r>
              <a:rPr sz="1500" b="1" i="0">
                <a:solidFill>
                  <a:srgbClr val="CB865E"/>
                </a:solidFill>
                <a:latin typeface="Calibri"/>
              </a:rPr>
              <a:t>If you ever add AI-generated MUSIC beds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7E2D9"/>
                </a:solidFill>
                <a:latin typeface="Calibri"/>
              </a:rPr>
              <a:t>Check that specific product's commercial clearance and any marketplace redistribution limits before shipping it as a scene layer. Music rights are materially trickier than TTS.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350" b="1" i="0">
                <a:solidFill>
                  <a:srgbClr val="9DB8A6"/>
                </a:solidFill>
                <a:latin typeface="Calibri"/>
              </a:rPr>
              <a:t>▸  </a:t>
            </a:r>
            <a:r>
              <a:rPr sz="1350" b="0" i="1">
                <a:solidFill>
                  <a:srgbClr val="9DB8A6"/>
                </a:solidFill>
                <a:latin typeface="Calibri"/>
              </a:rPr>
              <a:t>Net: the AI-content buckets are the SAFE ones — provided narration runs on a paid ElevenLabs tier.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Licensing — AI content</a:t>
            </a:r>
            <a:r>
              <a:rPr sz="900" b="0" i="0">
                <a:solidFill>
                  <a:srgbClr val="5E7266"/>
                </a:solidFill>
                <a:latin typeface="Calibri"/>
              </a:rPr>
              <a:t>     ·     Sleep — Plan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DB8A6"/>
                </a:solidFill>
                <a:latin typeface="Calibri"/>
              </a:rPr>
              <a:t>LICENSING IN DETAIL · 3 OF 3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41248"/>
            <a:ext cx="1005840" cy="38100"/>
          </a:xfrm>
          <a:prstGeom prst="rect">
            <a:avLst/>
          </a:prstGeom>
          <a:solidFill>
            <a:srgbClr val="9D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7E2D9"/>
                </a:solidFill>
                <a:latin typeface="Georgia"/>
              </a:rPr>
              <a:t>Fonts, photos, code &amp; deps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DB8A6"/>
                </a:solidFill>
                <a:latin typeface="Calibri"/>
              </a:rPr>
              <a:t>!  </a:t>
            </a:r>
            <a:r>
              <a:rPr sz="1500" b="1" i="0">
                <a:solidFill>
                  <a:srgbClr val="CB865E"/>
                </a:solidFill>
                <a:latin typeface="Calibri"/>
              </a:rPr>
              <a:t>Fonts — the editorial serif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E7E2D9"/>
                </a:solidFill>
                <a:latin typeface="Calibri"/>
              </a:rPr>
              <a:t>Many foundries license web use ≠ app embedding. Confirm an app-embedding/redistribution license, or default to an SIL-OFL serif (e.g. a Google Fonts serif) which is safe to embed and ship. Lowest-friction path.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DB8A6"/>
                </a:solidFill>
                <a:latin typeface="Calibri"/>
              </a:rPr>
              <a:t>!  </a:t>
            </a:r>
            <a:r>
              <a:rPr sz="1500" b="1" i="0">
                <a:solidFill>
                  <a:srgbClr val="CB865E"/>
                </a:solidFill>
                <a:latin typeface="Calibri"/>
              </a:rPr>
              <a:t>Photography — biggest open visual gap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E7E2D9"/>
                </a:solidFill>
                <a:latin typeface="Calibri"/>
              </a:rPr>
              <a:t>Already flagged in the brief. Store distribution needs commercial, app-distributable image licenses (model/property releases where relevant) — or shoot/replace. Don't ship borrowed imagery.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DB8A6"/>
                </a:solidFill>
                <a:latin typeface="Calibri"/>
              </a:rPr>
              <a:t>✓  </a:t>
            </a:r>
            <a:r>
              <a:rPr sz="1500" b="1" i="0">
                <a:solidFill>
                  <a:srgbClr val="86B08E"/>
                </a:solidFill>
                <a:latin typeface="Calibri"/>
              </a:rPr>
              <a:t>Code written by Opus / Fable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E7E2D9"/>
                </a:solidFill>
                <a:latin typeface="Calibri"/>
              </a:rPr>
              <a:t>Anthropic grants you rights to model outputs — the generated code is yours. No copyleft contamination as long as agents don't paste GPL/AGPL snippets; the Reviewer agent runs a license scan to enforce that.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DB8A6"/>
                </a:solidFill>
                <a:latin typeface="Calibri"/>
              </a:rPr>
              <a:t>✓  </a:t>
            </a:r>
            <a:r>
              <a:rPr sz="1500" b="1" i="0">
                <a:solidFill>
                  <a:srgbClr val="86B08E"/>
                </a:solidFill>
                <a:latin typeface="Calibri"/>
              </a:rPr>
              <a:t>Open-source dependencies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7E2D9"/>
                </a:solidFill>
                <a:latin typeface="Calibri"/>
              </a:rPr>
              <a:t>ExoPlayer (Apache-2), Howler (MIT), RN/Flutter (permissive). Ship a NOTICES file; no obligations beyond attribution-in-app.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Licensing — fonts/photos/code</a:t>
            </a:r>
            <a:r>
              <a:rPr sz="900" b="0" i="0">
                <a:solidFill>
                  <a:srgbClr val="5E7266"/>
                </a:solidFill>
                <a:latin typeface="Calibri"/>
              </a:rPr>
              <a:t>     ·     Sleep — Plan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DB8A6"/>
                </a:solidFill>
                <a:latin typeface="Calibri"/>
              </a:rPr>
              <a:t>ONE THING TO DECIDE EARLY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41248"/>
            <a:ext cx="1005840" cy="38100"/>
          </a:xfrm>
          <a:prstGeom prst="rect">
            <a:avLst/>
          </a:prstGeom>
          <a:solidFill>
            <a:srgbClr val="9D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7E2D9"/>
                </a:solidFill>
                <a:latin typeface="Georgia"/>
              </a:rPr>
              <a:t>Background entitlements &amp; the “no notifications” tension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5349240" cy="2743200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9DB8A6"/>
                </a:solidFill>
                <a:latin typeface="Georgia"/>
              </a:rPr>
              <a:t>iOS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7E2D9"/>
                </a:solidFill>
                <a:latin typeface="Calibri"/>
              </a:rPr>
              <a:t>The “audio” background mode is free but reviewed — a sleep app legitimately qualifies. The session must keep producing audible output or the OS ends it (no silent keep-alive tricks needed; real audio is playing).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965960"/>
            <a:ext cx="5349240" cy="2743200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CB865E"/>
                </a:solidFill>
                <a:latin typeface="Georgia"/>
              </a:rPr>
              <a:t>Android 13+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7E2D9"/>
                </a:solidFill>
                <a:latin typeface="Calibri"/>
              </a:rPr>
              <a:t>Reliable background playback REQUIRES a foreground media service — which mandates an ongoing media notification. This rubs against the brief's “no notifications, ever.”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9DB8A6"/>
                </a:solidFill>
                <a:latin typeface="Calibri"/>
              </a:rPr>
              <a:t>▸  </a:t>
            </a:r>
            <a:r>
              <a:rPr sz="1350" b="0" i="1">
                <a:solidFill>
                  <a:srgbClr val="9DB8A6"/>
                </a:solidFill>
                <a:latin typeface="Calibri"/>
              </a:rPr>
              <a:t>Your call:  a media-playback notification is an OS transport control (play/pause on the lock screen), not a push or marketing alert. It's arguably in-spirit — and it's the price of bulletproof Android background audio. Worth deciding before the rebuild, because it shapes the Android architecture.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b="1" i="0">
                <a:solidFill>
                  <a:srgbClr val="9DB8A6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E7E2D9"/>
                </a:solidFill>
                <a:latin typeface="Calibri"/>
              </a:rPr>
              <a:t>Bonus: the no-accounts / no-telemetry stance makes App Privacy labels trivially clean — a genuine advantage at review.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Entitlements</a:t>
            </a:r>
            <a:r>
              <a:rPr sz="900" b="0" i="0">
                <a:solidFill>
                  <a:srgbClr val="5E7266"/>
                </a:solidFill>
                <a:latin typeface="Calibri"/>
              </a:rPr>
              <a:t>     ·     Sleep — Plan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3737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DB8A6"/>
                </a:solidFill>
                <a:latin typeface="Calibri"/>
              </a:rPr>
              <a:t>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41248"/>
            <a:ext cx="1005840" cy="38100"/>
          </a:xfrm>
          <a:prstGeom prst="rect">
            <a:avLst/>
          </a:prstGeom>
          <a:solidFill>
            <a:srgbClr val="9D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7E2D9"/>
                </a:solidFill>
                <a:latin typeface="Georgia"/>
              </a:rPr>
              <a:t>Risk matrix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10881360" cy="365760"/>
          </a:xfrm>
          <a:prstGeom prst="rect">
            <a:avLst/>
          </a:prstGeom>
          <a:solidFill>
            <a:srgbClr val="20252E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9339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DB8A6"/>
                </a:solidFill>
                <a:latin typeface="Calibri"/>
              </a:rPr>
              <a:t>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993392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DB8A6"/>
                </a:solidFill>
                <a:latin typeface="Calibri"/>
              </a:rPr>
              <a:t>Likely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993392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DB8A6"/>
                </a:solidFill>
                <a:latin typeface="Calibri"/>
              </a:rPr>
              <a:t>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993392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DB8A6"/>
                </a:solidFill>
                <a:latin typeface="Calibri"/>
              </a:rPr>
              <a:t>Mitigation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331720"/>
            <a:ext cx="10881360" cy="548640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E7E2D9"/>
                </a:solidFill>
                <a:latin typeface="Calibri"/>
              </a:rPr>
              <a:t>Device audio QA can't be fully automated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3774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CB865E"/>
                </a:solidFill>
                <a:latin typeface="Calibri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3774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CB865E"/>
                </a:solidFill>
                <a:latin typeface="Calibri"/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38658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A978E"/>
                </a:solidFill>
                <a:latin typeface="Calibri"/>
              </a:rPr>
              <a:t>Real-phone overnight test gates each milestone; consider a small device set.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9260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E7E2D9"/>
                </a:solidFill>
                <a:latin typeface="Calibri"/>
              </a:rPr>
              <a:t>App-store review (audio + AI content)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9260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9DB8A6"/>
                </a:solidFill>
                <a:latin typeface="Calibri"/>
              </a:rPr>
              <a:t>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9260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9DB8A6"/>
                </a:solidFill>
                <a:latin typeface="Calibri"/>
              </a:rPr>
              <a:t>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93522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A978E"/>
                </a:solidFill>
                <a:latin typeface="Calibri"/>
              </a:rPr>
              <a:t>Clean privacy labels; justify the audio entitlement; budget review cycles.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429000"/>
            <a:ext cx="10881360" cy="548640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747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E7E2D9"/>
                </a:solidFill>
                <a:latin typeface="Calibri"/>
              </a:rPr>
              <a:t>Audio licensing (freetousesounds / 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4747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9DB8A6"/>
                </a:solidFill>
                <a:latin typeface="Calibri"/>
              </a:rPr>
              <a:t>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4747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CB865E"/>
                </a:solidFill>
                <a:latin typeface="Calibri"/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348386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A978E"/>
                </a:solidFill>
                <a:latin typeface="Calibri"/>
              </a:rPr>
              <a:t>Per-file manifest; add credits screen or replace clips.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023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E7E2D9"/>
                </a:solidFill>
                <a:latin typeface="Calibri"/>
              </a:rPr>
              <a:t>Font / photo licensing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0233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9DB8A6"/>
                </a:solidFill>
                <a:latin typeface="Calibri"/>
              </a:rPr>
              <a:t>Med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0233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9DB8A6"/>
                </a:solidFill>
                <a:latin typeface="Calibri"/>
              </a:rPr>
              <a:t>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403250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A978E"/>
                </a:solidFill>
                <a:latin typeface="Calibri"/>
              </a:rPr>
              <a:t>Default to OFL fonts; source or shoot licensed imagery.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526280"/>
            <a:ext cx="10881360" cy="548640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5720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E7E2D9"/>
                </a:solidFill>
                <a:latin typeface="Calibri"/>
              </a:rPr>
              <a:t>Multi-agent drift over a long 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5720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9DB8A6"/>
                </a:solidFill>
                <a:latin typeface="Calibri"/>
              </a:rPr>
              <a:t>Med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5720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9DB8A6"/>
                </a:solidFill>
                <a:latin typeface="Calibri"/>
              </a:rPr>
              <a:t>Med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458114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A978E"/>
                </a:solidFill>
                <a:latin typeface="Calibri"/>
              </a:rPr>
              <a:t>Critic loop + milestone PR reviews + tight scene-format contract tests.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1206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E7E2D9"/>
                </a:solidFill>
                <a:latin typeface="Calibri"/>
              </a:rPr>
              <a:t>Cost / time overrun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51206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9DB8A6"/>
                </a:solidFill>
                <a:latin typeface="Calibri"/>
              </a:rPr>
              <a:t>Med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51206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9DB8A6"/>
                </a:solidFill>
                <a:latin typeface="Calibri"/>
              </a:rPr>
              <a:t>Med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79" y="512978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A978E"/>
                </a:solidFill>
                <a:latin typeface="Calibri"/>
              </a:rPr>
              <a:t>Pilot Rung 1 first; Fable-heavy bulk; hard budget ceiling.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6692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E7E2D9"/>
                </a:solidFill>
                <a:latin typeface="Calibri"/>
              </a:rPr>
              <a:t>Two-codebase maintenance burden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6692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CB865E"/>
                </a:solidFill>
                <a:latin typeface="Calibri"/>
              </a:rPr>
              <a:t>High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56692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9DB8A6"/>
                </a:solidFill>
                <a:latin typeface="Calibri"/>
              </a:rPr>
              <a:t>Med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79" y="567842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A978E"/>
                </a:solidFill>
                <a:latin typeface="Calibri"/>
              </a:rPr>
              <a:t>Consider Rung 2 (one cross-platform codebase) instead of Rung 3.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437376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Risk</a:t>
            </a:r>
            <a:r>
              <a:rPr sz="900" b="0" i="0">
                <a:solidFill>
                  <a:srgbClr val="5E7266"/>
                </a:solidFill>
                <a:latin typeface="Calibri"/>
              </a:rPr>
              <a:t>     ·     Sleep — Plan 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43737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DB8A6"/>
                </a:solidFill>
                <a:latin typeface="Calibri"/>
              </a:rPr>
              <a:t>WHAT I'D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41248"/>
            <a:ext cx="1005840" cy="38100"/>
          </a:xfrm>
          <a:prstGeom prst="rect">
            <a:avLst/>
          </a:prstGeom>
          <a:solidFill>
            <a:srgbClr val="9D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7E2D9"/>
                </a:solidFill>
                <a:latin typeface="Georgia"/>
              </a:rPr>
              <a:t>Recommendation &amp; decisions I need from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DB8A6"/>
                </a:solidFill>
                <a:latin typeface="Calibri"/>
              </a:rPr>
              <a:t>1.  Test tonight's web fix first.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7E2D9"/>
                </a:solidFill>
                <a:latin typeface="Calibri"/>
              </a:rPr>
              <a:t>If the Howler html5 build survives the night, native becomes a reach-for-the-stars upgrade, not a rescue — which changes the math.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DB8A6"/>
                </a:solidFill>
                <a:latin typeface="Calibri"/>
              </a:rPr>
              <a:t>2.  If you still want native, pilot Rung 1 (native-audio shell).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7E2D9"/>
                </a:solidFill>
                <a:latin typeface="Calibri"/>
              </a:rPr>
              <a:t>Days of effort to validate real OS background audio on your phone before committing months to a ground-up rewrite.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9DB8A6"/>
                </a:solidFill>
                <a:latin typeface="Calibri"/>
              </a:rPr>
              <a:t>3.  Greenlight full Plan C only once the pilot proves the audio and the licensing checklist is clear.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434840"/>
            <a:ext cx="10881360" cy="1828800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572000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B865E"/>
                </a:solidFill>
                <a:latin typeface="Calibri"/>
              </a:rPr>
              <a:t>Decisions I need from you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9D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E7E2D9"/>
                </a:solidFill>
                <a:latin typeface="Calibri"/>
              </a:rPr>
              <a:t>Cross-platform (Rung 2, one codebase) vs. separate native (Rung 3)?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9D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E7E2D9"/>
                </a:solidFill>
                <a:latin typeface="Calibri"/>
              </a:rPr>
              <a:t>The Android media-notification call — acceptable, or a dealbreaker?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9D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E7E2D9"/>
                </a:solidFill>
                <a:latin typeface="Calibri"/>
              </a:rPr>
              <a:t>Budget ceiling for the agent build run?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9D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E7E2D9"/>
                </a:solidFill>
                <a:latin typeface="Calibri"/>
              </a:rPr>
              <a:t>Story TTS/LLM — stay client-side, or move server-side?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9DB8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E7E2D9"/>
                </a:solidFill>
                <a:latin typeface="Calibri"/>
              </a:rPr>
              <a:t>Asset clearance go/no-go: replace freetousesounds + source licensed photos?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Recommendation</a:t>
            </a:r>
            <a:r>
              <a:rPr sz="900" b="0" i="0">
                <a:solidFill>
                  <a:srgbClr val="5E7266"/>
                </a:solidFill>
                <a:latin typeface="Calibri"/>
              </a:rPr>
              <a:t>     ·     Sleep — Plan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3737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DB8A6"/>
                </a:solidFill>
                <a:latin typeface="Calibri"/>
              </a:rPr>
              <a:t>APPENDIX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41248"/>
            <a:ext cx="1005840" cy="38100"/>
          </a:xfrm>
          <a:prstGeom prst="rect">
            <a:avLst/>
          </a:prstGeom>
          <a:solidFill>
            <a:srgbClr val="9D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7E2D9"/>
                </a:solidFill>
                <a:latin typeface="Georgia"/>
              </a:rPr>
              <a:t>Opus 4.8 vs. Fable 5 for the build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349240" cy="3474720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9DB8A6"/>
                </a:solidFill>
                <a:latin typeface="Georgia"/>
              </a:rPr>
              <a:t>Opus 4.8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E7E2D9"/>
                </a:solidFill>
                <a:latin typeface="Calibri"/>
              </a:rPr>
              <a:t>Deepest reasoning. Use for: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9DB8A6"/>
                </a:solidFill>
                <a:latin typeface="Calibri"/>
              </a:rPr>
              <a:t>·  </a:t>
            </a:r>
            <a:r>
              <a:rPr sz="1300" b="0" i="0">
                <a:solidFill>
                  <a:srgbClr val="E7E2D9"/>
                </a:solidFill>
                <a:latin typeface="Calibri"/>
              </a:rPr>
              <a:t>System architecture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9DB8A6"/>
                </a:solidFill>
                <a:latin typeface="Calibri"/>
              </a:rPr>
              <a:t>·  </a:t>
            </a:r>
            <a:r>
              <a:rPr sz="1300" b="0" i="0">
                <a:solidFill>
                  <a:srgbClr val="E7E2D9"/>
                </a:solidFill>
                <a:latin typeface="Calibri"/>
              </a:rPr>
              <a:t>The audio-engine core (the hard part)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9DB8A6"/>
                </a:solidFill>
                <a:latin typeface="Calibri"/>
              </a:rPr>
              <a:t>·  </a:t>
            </a:r>
            <a:r>
              <a:rPr sz="1300" b="0" i="0">
                <a:solidFill>
                  <a:srgbClr val="E7E2D9"/>
                </a:solidFill>
                <a:latin typeface="Calibri"/>
              </a:rPr>
              <a:t>Security &amp; licensing review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9DB8A6"/>
                </a:solidFill>
                <a:latin typeface="Calibri"/>
              </a:rPr>
              <a:t>·  </a:t>
            </a:r>
            <a:r>
              <a:rPr sz="1300" b="0" i="0">
                <a:solidFill>
                  <a:srgbClr val="E7E2D9"/>
                </a:solidFill>
                <a:latin typeface="Calibri"/>
              </a:rPr>
              <a:t>The Reviewer/critic agent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9DB8A6"/>
                </a:solidFill>
                <a:latin typeface="Calibri"/>
              </a:rPr>
              <a:t>·  </a:t>
            </a:r>
            <a:r>
              <a:rPr sz="1300" b="0" i="0">
                <a:solidFill>
                  <a:srgbClr val="E7E2D9"/>
                </a:solidFill>
                <a:latin typeface="Calibri"/>
              </a:rPr>
              <a:t>Merge gating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2011680"/>
            <a:ext cx="5349240" cy="3474720"/>
          </a:xfrm>
          <a:prstGeom prst="rect">
            <a:avLst/>
          </a:prstGeom>
          <a:solidFill>
            <a:srgbClr val="171B23"/>
          </a:solidFill>
          <a:ln w="9525">
            <a:solidFill>
              <a:srgbClr val="20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9DB8A6"/>
                </a:solidFill>
                <a:latin typeface="Georgia"/>
              </a:rPr>
              <a:t>Fable 5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E7E2D9"/>
                </a:solidFill>
                <a:latin typeface="Calibri"/>
              </a:rPr>
              <a:t>Fast, high throughput. Use for: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9DB8A6"/>
                </a:solidFill>
                <a:latin typeface="Calibri"/>
              </a:rPr>
              <a:t>·  </a:t>
            </a:r>
            <a:r>
              <a:rPr sz="1300" b="0" i="0">
                <a:solidFill>
                  <a:srgbClr val="E7E2D9"/>
                </a:solidFill>
                <a:latin typeface="Calibri"/>
              </a:rPr>
              <a:t>Bulk implementation passes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9DB8A6"/>
                </a:solidFill>
                <a:latin typeface="Calibri"/>
              </a:rPr>
              <a:t>·  </a:t>
            </a:r>
            <a:r>
              <a:rPr sz="1300" b="0" i="0">
                <a:solidFill>
                  <a:srgbClr val="E7E2D9"/>
                </a:solidFill>
                <a:latin typeface="Calibri"/>
              </a:rPr>
              <a:t>Test generation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9DB8A6"/>
                </a:solidFill>
                <a:latin typeface="Calibri"/>
              </a:rPr>
              <a:t>·  </a:t>
            </a:r>
            <a:r>
              <a:rPr sz="1300" b="0" i="0">
                <a:solidFill>
                  <a:srgbClr val="E7E2D9"/>
                </a:solidFill>
                <a:latin typeface="Calibri"/>
              </a:rPr>
              <a:t>Boilerplate &amp; glue code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9DB8A6"/>
                </a:solidFill>
                <a:latin typeface="Calibri"/>
              </a:rPr>
              <a:t>·  </a:t>
            </a:r>
            <a:r>
              <a:rPr sz="1300" b="0" i="0">
                <a:solidFill>
                  <a:srgbClr val="E7E2D9"/>
                </a:solidFill>
                <a:latin typeface="Calibri"/>
              </a:rPr>
              <a:t>Docs &amp; changelogs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9DB8A6"/>
                </a:solidFill>
                <a:latin typeface="Calibri"/>
              </a:rPr>
              <a:t>·  </a:t>
            </a:r>
            <a:r>
              <a:rPr sz="1300" b="0" i="0">
                <a:solidFill>
                  <a:srgbClr val="E7E2D9"/>
                </a:solidFill>
                <a:latin typeface="Calibri"/>
              </a:rPr>
              <a:t>Routine refactors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9DB8A6"/>
                </a:solidFill>
                <a:latin typeface="Calibri"/>
              </a:rPr>
              <a:t>Pattern: Opus plans and reviews; Fable executes; Opus gates merges. Cheaper than all-Opus, higher quality than all-Fable.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Appendix</a:t>
            </a:r>
            <a:r>
              <a:rPr sz="900" b="0" i="0">
                <a:solidFill>
                  <a:srgbClr val="5E7266"/>
                </a:solidFill>
                <a:latin typeface="Calibri"/>
              </a:rPr>
              <a:t>     ·     Sleep — Plan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3737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78E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